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3"/>
  </p:notesMasterIdLst>
  <p:sldIdLst>
    <p:sldId id="256" r:id="rId3"/>
    <p:sldId id="259" r:id="rId4"/>
    <p:sldId id="324" r:id="rId5"/>
    <p:sldId id="305" r:id="rId6"/>
    <p:sldId id="343" r:id="rId7"/>
    <p:sldId id="346" r:id="rId8"/>
    <p:sldId id="349" r:id="rId9"/>
    <p:sldId id="350" r:id="rId10"/>
    <p:sldId id="351" r:id="rId11"/>
    <p:sldId id="352" r:id="rId12"/>
    <p:sldId id="353" r:id="rId13"/>
    <p:sldId id="354" r:id="rId14"/>
    <p:sldId id="355" r:id="rId15"/>
    <p:sldId id="356" r:id="rId16"/>
    <p:sldId id="357" r:id="rId17"/>
    <p:sldId id="358" r:id="rId18"/>
    <p:sldId id="359" r:id="rId19"/>
    <p:sldId id="360" r:id="rId20"/>
    <p:sldId id="279" r:id="rId21"/>
    <p:sldId id="308" r:id="rId22"/>
    <p:sldId id="280" r:id="rId23"/>
    <p:sldId id="309" r:id="rId24"/>
    <p:sldId id="281" r:id="rId25"/>
    <p:sldId id="310" r:id="rId26"/>
    <p:sldId id="282" r:id="rId27"/>
    <p:sldId id="311" r:id="rId28"/>
    <p:sldId id="283" r:id="rId29"/>
    <p:sldId id="312" r:id="rId30"/>
    <p:sldId id="286" r:id="rId31"/>
    <p:sldId id="277" r:id="rId32"/>
    <p:sldId id="347" r:id="rId34"/>
    <p:sldId id="285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EE030E3-CA49-4DBF-89C6-E5E1B5E3D0E9}">
          <p14:sldIdLst>
            <p14:sldId id="324"/>
            <p14:sldId id="279"/>
            <p14:sldId id="308"/>
            <p14:sldId id="280"/>
            <p14:sldId id="309"/>
            <p14:sldId id="281"/>
            <p14:sldId id="310"/>
            <p14:sldId id="282"/>
            <p14:sldId id="311"/>
            <p14:sldId id="283"/>
            <p14:sldId id="259"/>
            <p14:sldId id="256"/>
            <p14:sldId id="305"/>
            <p14:sldId id="343"/>
            <p14:sldId id="346"/>
            <p14:sldId id="349"/>
            <p14:sldId id="350"/>
            <p14:sldId id="351"/>
            <p14:sldId id="352"/>
            <p14:sldId id="353"/>
            <p14:sldId id="354"/>
            <p14:sldId id="355"/>
            <p14:sldId id="356"/>
            <p14:sldId id="357"/>
            <p14:sldId id="358"/>
            <p14:sldId id="359"/>
            <p14:sldId id="360"/>
          </p14:sldIdLst>
        </p14:section>
        <p14:section name="Untitled Section" id="{497B1BD3-2C6A-43E7-A112-1D1342660F41}">
          <p14:sldIdLst>
            <p14:sldId id="312"/>
            <p14:sldId id="286"/>
            <p14:sldId id="277"/>
            <p14:sldId id="347"/>
            <p14:sldId id="285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96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8" Type="http://schemas.openxmlformats.org/officeDocument/2006/relationships/tableStyles" Target="tableStyles.xml"/><Relationship Id="rId37" Type="http://schemas.openxmlformats.org/officeDocument/2006/relationships/viewProps" Target="viewProps.xml"/><Relationship Id="rId36" Type="http://schemas.openxmlformats.org/officeDocument/2006/relationships/presProps" Target="presProps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24417" y="3717925"/>
            <a:ext cx="10943167" cy="1082675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626533" y="4940300"/>
            <a:ext cx="10949517" cy="981075"/>
          </a:xfrm>
        </p:spPr>
        <p:txBody>
          <a:bodyPr/>
          <a:lstStyle>
            <a:lvl1pPr marL="0" indent="0" algn="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4BDF68E2-58F2-4D09-BE8B-E3BD06533059}" type="datetimeFigureOut">
              <a:rPr lang="en-US" dirty="0"/>
            </a:fld>
            <a:endParaRPr lang="en-US" dirty="0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4FAB73BC-B049-4115-A692-8D63A059BFB8}" type="slidenum">
              <a:rPr lang="en-US" dirty="0"/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28FC5F6-F338-4AE4-BB23-26385BCFC423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113E31D-E2AB-40D1-8B51-AFA5AFEF393A}" type="slidenum">
              <a:rPr lang="en-US" dirty="0"/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0EBB0C4-6273-4C6E-B9BD-2EDC30F1CD52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FAB73BC-B049-4115-A692-8D63A059BFB8}" type="slidenum">
              <a:rPr lang="en-US" dirty="0"/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9AB4D41-86C1-4908-B66A-0B50CEB3BF29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FAB73BC-B049-4115-A692-8D63A059BFB8}" type="slidenum">
              <a:rPr lang="en-US" dirty="0"/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6426E2C-56C1-4E0D-A793-0088A7FDD37E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FAB73BC-B049-4115-A692-8D63A059BFB8}" type="slidenum">
              <a:rPr lang="en-US" dirty="0"/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C8C39B41-D8B5-4052-B551-9B5525EAA8B6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FAB73BC-B049-4115-A692-8D63A059BFB8}" type="slidenum">
              <a:rPr lang="en-US" dirty="0"/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D94136C-8742-45B2-AF27-D93DF72833A9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FAB73BC-B049-4115-A692-8D63A059BFB8}" type="slidenum">
              <a:rPr lang="en-US" dirty="0"/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32ABBEA6-7C60-4B02-AE87-00D78D8422AF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FAB73BC-B049-4115-A692-8D63A059BFB8}" type="slidenum">
              <a:rPr lang="en-US" dirty="0"/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C9CAD897-D46E-4AD2-BD9B-49DD3E640873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FAB73BC-B049-4115-A692-8D63A059BFB8}" type="slidenum">
              <a:rPr lang="en-US" dirty="0"/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E2D6473-DF6D-4702-B328-E0DD40540A4E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FAB73BC-B049-4115-A692-8D63A059BFB8}" type="slidenum">
              <a:rPr lang="en-US" dirty="0"/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26F7E3A-B166-407D-9866-32884E7D5B3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FAB73BC-B049-4115-A692-8D63A059BFB8}" type="slidenum">
              <a:rPr lang="en-US" dirty="0"/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1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98624D31-43A5-475A-80CF-332C9F6DCF35}" type="datetimeFigureOut">
              <a:rPr lang="en-US" dirty="0"/>
            </a:fld>
            <a:endParaRPr lang="en-US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 dirty="0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4FAB73BC-B049-4115-A692-8D63A059BFB8}" type="slidenum">
              <a:rPr lang="en-US" dirty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3263152"/>
            <a:ext cx="10058400" cy="1061959"/>
          </a:xfrm>
        </p:spPr>
        <p:txBody>
          <a:bodyPr>
            <a:normAutofit fontScale="90000"/>
          </a:bodyPr>
          <a:lstStyle/>
          <a:p>
            <a:r>
              <a:rPr lang="en-IN" sz="8000" dirty="0"/>
              <a:t>SR UNIVERSITY</a:t>
            </a:r>
            <a:endParaRPr lang="en-IN" sz="8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97280" y="4455620"/>
            <a:ext cx="10061171" cy="1143000"/>
          </a:xfrm>
        </p:spPr>
        <p:txBody>
          <a:bodyPr/>
          <a:lstStyle/>
          <a:p>
            <a:r>
              <a:rPr lang="en-IN" dirty="0"/>
              <a:t>ANANTHASAGAR</a:t>
            </a:r>
            <a:endParaRPr lang="en-IN" dirty="0"/>
          </a:p>
        </p:txBody>
      </p:sp>
      <p:pic>
        <p:nvPicPr>
          <p:cNvPr id="5" name="Picture 4"/>
          <p:cNvPicPr/>
          <p:nvPr/>
        </p:nvPicPr>
        <p:blipFill rotWithShape="1">
          <a:blip r:embed="rId1"/>
          <a:srcRect r="57362"/>
          <a:stretch>
            <a:fillRect/>
          </a:stretch>
        </p:blipFill>
        <p:spPr bwMode="auto">
          <a:xfrm>
            <a:off x="665983" y="758474"/>
            <a:ext cx="7260012" cy="29460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airplane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5600" y="2210435"/>
            <a:ext cx="10495280" cy="3006725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IN" dirty="0">
              <a:solidFill>
                <a:schemeClr val="tx1"/>
              </a:solidFill>
            </a:endParaRPr>
          </a:p>
          <a:p>
            <a:r>
              <a:rPr lang="en-IN" dirty="0">
                <a:solidFill>
                  <a:schemeClr val="tx1"/>
                </a:solidFill>
              </a:rPr>
              <a:t>KANALA BHARGAV REDDY                 2103A51048</a:t>
            </a:r>
            <a:endParaRPr lang="en-IN" dirty="0">
              <a:solidFill>
                <a:schemeClr val="tx1"/>
              </a:solidFill>
            </a:endParaRPr>
          </a:p>
          <a:p>
            <a:r>
              <a:rPr lang="en-IN" dirty="0">
                <a:solidFill>
                  <a:schemeClr val="tx1"/>
                </a:solidFill>
              </a:rPr>
              <a:t>MUDURUKOLLA KRISHNA         	     </a:t>
            </a:r>
            <a:r>
              <a:rPr lang="en-US" altLang="en-IN" dirty="0">
                <a:solidFill>
                  <a:schemeClr val="tx1"/>
                </a:solidFill>
              </a:rPr>
              <a:t> </a:t>
            </a:r>
            <a:r>
              <a:rPr lang="en-IN" dirty="0">
                <a:solidFill>
                  <a:schemeClr val="tx1"/>
                </a:solidFill>
              </a:rPr>
              <a:t>   2103A51060</a:t>
            </a:r>
            <a:endParaRPr lang="en-IN" dirty="0">
              <a:solidFill>
                <a:schemeClr val="tx1"/>
              </a:solidFill>
            </a:endParaRPr>
          </a:p>
          <a:p>
            <a:r>
              <a:rPr lang="en-IN" dirty="0">
                <a:solidFill>
                  <a:schemeClr val="tx1"/>
                </a:solidFill>
              </a:rPr>
              <a:t>ALLADI JAYANTH         	                 2103A51503</a:t>
            </a:r>
            <a:endParaRPr lang="en-IN" dirty="0">
              <a:solidFill>
                <a:schemeClr val="tx1"/>
              </a:solidFill>
            </a:endParaRPr>
          </a:p>
          <a:p>
            <a:r>
              <a:rPr lang="en-IN" dirty="0">
                <a:solidFill>
                  <a:schemeClr val="tx1"/>
                </a:solidFill>
              </a:rPr>
              <a:t>JENNAPUREDDY SANTHOSH            2103A51517	       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04240" y="1831975"/>
            <a:ext cx="429895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u="sng" dirty="0"/>
              <a:t>TEAM MEMBERS:</a:t>
            </a:r>
            <a:endParaRPr lang="en-IN" sz="2800" u="sng" dirty="0"/>
          </a:p>
        </p:txBody>
      </p:sp>
      <p:sp>
        <p:nvSpPr>
          <p:cNvPr id="15" name="TextBox 14"/>
          <p:cNvSpPr txBox="1"/>
          <p:nvPr/>
        </p:nvSpPr>
        <p:spPr>
          <a:xfrm>
            <a:off x="469265" y="5434965"/>
            <a:ext cx="10381615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UNDER THE GUIDANCE OF</a:t>
            </a:r>
            <a:r>
              <a:rPr lang="en-US" altLang="en-IN" sz="2400" dirty="0"/>
              <a:t>:</a:t>
            </a:r>
            <a:r>
              <a:rPr lang="en-IN" sz="240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 CH.SANDEEP</a:t>
            </a:r>
            <a:endParaRPr lang="en-IN" sz="2400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pic>
        <p:nvPicPr>
          <p:cNvPr id="3" name="Picture 2"/>
          <p:cNvPicPr/>
          <p:nvPr/>
        </p:nvPicPr>
        <p:blipFill rotWithShape="1">
          <a:blip r:embed="rId1"/>
          <a:srcRect r="57362"/>
          <a:stretch>
            <a:fillRect/>
          </a:stretch>
        </p:blipFill>
        <p:spPr bwMode="auto">
          <a:xfrm>
            <a:off x="234482" y="92279"/>
            <a:ext cx="1217799" cy="8848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s 4"/>
          <p:cNvSpPr/>
          <p:nvPr/>
        </p:nvSpPr>
        <p:spPr>
          <a:xfrm>
            <a:off x="3518853" y="387985"/>
            <a:ext cx="5175885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en-IN" sz="7200" b="1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TITLE:</a:t>
            </a:r>
            <a:r>
              <a:rPr lang="en-IN" sz="7200" b="1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COWIN</a:t>
            </a:r>
            <a:endParaRPr lang="en-IN" sz="7200" b="1" dirty="0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Rectangles 6"/>
          <p:cNvSpPr/>
          <p:nvPr/>
        </p:nvSpPr>
        <p:spPr>
          <a:xfrm>
            <a:off x="3436620" y="387985"/>
            <a:ext cx="2416810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en-IN" sz="72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TITLE:</a:t>
            </a:r>
            <a:endParaRPr lang="en-US" altLang="en-IN" sz="72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12" grpId="0"/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" y="1695450"/>
            <a:ext cx="11907520" cy="502158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p>
            <a:pPr marL="0" indent="0" algn="just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en-IN" sz="2400"/>
              <a:t>This webpage is about the </a:t>
            </a:r>
            <a:r>
              <a:rPr lang="en-US" altLang="en-IN" sz="24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COWIN</a:t>
            </a:r>
            <a:r>
              <a:rPr lang="en-US" altLang="en-IN" sz="2400"/>
              <a:t> </a:t>
            </a:r>
            <a:endParaRPr lang="en-US" altLang="en-IN" sz="2400"/>
          </a:p>
          <a:p>
            <a:pPr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IN" sz="2400"/>
              <a:t>On March 11,2020 covid-19 was officially characterised as a pandemic by the World Health Oraganisation(WHO) </a:t>
            </a:r>
            <a:endParaRPr lang="en-US" altLang="en-IN" sz="2400"/>
          </a:p>
          <a:p>
            <a:pPr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IN" sz="2400"/>
              <a:t>Covid-19 is a part of family of viruses which cause various illness.The serevity of illness is varied,ranging from mild effects to serve,with some cases even being linked to deaths.</a:t>
            </a:r>
            <a:endParaRPr lang="en-US" altLang="en-IN" sz="2400"/>
          </a:p>
          <a:p>
            <a:pPr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IN" sz="2400"/>
              <a:t>The pandemic has impacted both lives and livelihood by causing health care challenges and humanitarian crisis.</a:t>
            </a:r>
            <a:endParaRPr lang="en-US" altLang="en-IN" sz="2400"/>
          </a:p>
          <a:p>
            <a:pPr algn="just">
              <a:lnSpc>
                <a:spcPct val="150000"/>
              </a:lnSpc>
              <a:buFont typeface="Wingdings" panose="05000000000000000000" charset="0"/>
              <a:buChar char="Ø"/>
            </a:pPr>
            <a:endParaRPr lang="en-US" altLang="en-IN" sz="2400"/>
          </a:p>
        </p:txBody>
      </p:sp>
      <p:sp>
        <p:nvSpPr>
          <p:cNvPr id="6" name="Rectangles 5"/>
          <p:cNvSpPr/>
          <p:nvPr/>
        </p:nvSpPr>
        <p:spPr>
          <a:xfrm>
            <a:off x="609283" y="517525"/>
            <a:ext cx="4755515" cy="101473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p>
            <a:pPr algn="ctr"/>
            <a:r>
              <a:rPr lang="en-US" altLang="en-IN" sz="6000" b="1" u="sng">
                <a:ln/>
                <a:solidFill>
                  <a:schemeClr val="accent4"/>
                </a:solidFill>
                <a:effectLst/>
                <a:sym typeface="+mn-ea"/>
              </a:rPr>
              <a:t>ABSTRACT: </a:t>
            </a:r>
            <a:endParaRPr lang="en-US" altLang="en-IN" sz="6000" b="1" u="sng">
              <a:ln/>
              <a:solidFill>
                <a:schemeClr val="accent4"/>
              </a:solidFill>
              <a:effectLst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7520" y="1135380"/>
            <a:ext cx="5892800" cy="582930"/>
          </a:xfrm>
        </p:spPr>
        <p:txBody>
          <a:bodyPr/>
          <a:p>
            <a:r>
              <a:rPr lang="en-US"/>
              <a:t>       </a:t>
            </a:r>
            <a:r>
              <a:rPr lang="en-US" u="sng"/>
              <a:t>MAIN PAGE:</a:t>
            </a:r>
            <a:endParaRPr lang="en-US" u="sn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180590"/>
            <a:ext cx="10972800" cy="3449955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p>
            <a:pPr algn="just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en-US" sz="2600" dirty="0">
                <a:sym typeface="+mn-ea"/>
              </a:rPr>
              <a:t>In our website the main page is </a:t>
            </a:r>
            <a:r>
              <a:rPr lang="en-US" sz="2600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sym typeface="+mn-ea"/>
              </a:rPr>
              <a:t>“</a:t>
            </a:r>
            <a:r>
              <a:rPr lang="en-IN" altLang="en-US" sz="2600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sym typeface="+mn-ea"/>
              </a:rPr>
              <a:t>COWIN</a:t>
            </a:r>
            <a:r>
              <a:rPr lang="en-US" sz="2600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sym typeface="+mn-ea"/>
              </a:rPr>
              <a:t>”</a:t>
            </a:r>
            <a:r>
              <a:rPr lang="en-US" sz="2600" dirty="0">
                <a:sym typeface="+mn-ea"/>
              </a:rPr>
              <a:t> page .It contains a navigation </a:t>
            </a:r>
            <a:r>
              <a:rPr lang="en-IN" altLang="en-US" sz="2600" dirty="0">
                <a:cs typeface="+mn-lt"/>
                <a:sym typeface="+mn-ea"/>
              </a:rPr>
              <a:t>to total number of 6 web pages they are </a:t>
            </a:r>
            <a:r>
              <a:rPr lang="en-IN" altLang="en-US" sz="2600" dirty="0">
                <a:sym typeface="+mn-ea"/>
              </a:rPr>
              <a:t>:ABHA(Health id),Dashboard,Verify certificate,FAQ’s,Partners,Registration/Sign in.</a:t>
            </a:r>
            <a:endParaRPr lang="en-IN" altLang="en-US" sz="2600" dirty="0">
              <a:sym typeface="+mn-ea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IN" altLang="en-US" sz="2600" dirty="0">
                <a:sym typeface="+mn-ea"/>
              </a:rPr>
              <a:t>The background image of our website interface is “eagle with indian flag colours”.</a:t>
            </a:r>
            <a:endParaRPr lang="en-US" sz="2600" dirty="0"/>
          </a:p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endParaRPr lang="en-IN" altLang="en-US" sz="2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Screenshot (20)"/>
          <p:cNvPicPr>
            <a:picLocks noChangeAspect="1"/>
          </p:cNvPicPr>
          <p:nvPr>
            <p:ph idx="1"/>
          </p:nvPr>
        </p:nvPicPr>
        <p:blipFill>
          <a:blip r:embed="rId1"/>
          <a:srcRect l="337" t="7402" r="3099" b="4246"/>
          <a:stretch>
            <a:fillRect/>
          </a:stretch>
        </p:blipFill>
        <p:spPr>
          <a:xfrm>
            <a:off x="1011555" y="1768475"/>
            <a:ext cx="10189210" cy="479298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1442720" y="777240"/>
            <a:ext cx="3679825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4400" u="sng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HOME PAGE:</a:t>
            </a:r>
            <a:endParaRPr lang="en-US" sz="4400" u="sng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800100"/>
            <a:ext cx="4765040" cy="582930"/>
          </a:xfrm>
        </p:spPr>
        <p:txBody>
          <a:bodyPr/>
          <a:p>
            <a:r>
              <a:rPr lang="en-US" altLang="en-IN" sz="4400" u="sng"/>
              <a:t>ABHA(Health Id):</a:t>
            </a:r>
            <a:endParaRPr lang="en-US" altLang="en-IN" sz="4400" u="sn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4315" y="1845945"/>
            <a:ext cx="11673205" cy="4876800"/>
          </a:xfrm>
        </p:spPr>
        <p:txBody>
          <a:bodyPr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p>
            <a:pPr>
              <a:buFont typeface="Wingdings" panose="05000000000000000000" charset="0"/>
              <a:buChar char="Ø"/>
            </a:pPr>
            <a:r>
              <a:rPr lang="en-IN" altLang="en-US" sz="2400">
                <a:ln/>
                <a:solidFill>
                  <a:schemeClr val="accent4"/>
                </a:solidFill>
                <a:effectLst/>
              </a:rPr>
              <a:t>The first page of our web site is “ABHA(Health id)”.</a:t>
            </a:r>
            <a:endParaRPr lang="en-IN" altLang="en-US" sz="2400">
              <a:ln/>
              <a:solidFill>
                <a:schemeClr val="accent4"/>
              </a:solidFill>
              <a:effectLst/>
            </a:endParaRPr>
          </a:p>
          <a:p>
            <a:pPr>
              <a:buFont typeface="Wingdings" panose="05000000000000000000" charset="0"/>
              <a:buChar char="Ø"/>
            </a:pPr>
            <a:r>
              <a:rPr lang="en-IN" altLang="en-US" sz="2400">
                <a:ln/>
                <a:solidFill>
                  <a:schemeClr val="accent4"/>
                </a:solidFill>
                <a:effectLst/>
                <a:sym typeface="+mn-ea"/>
              </a:rPr>
              <a:t>ABHA stands for Ayushman Bharat Health Account</a:t>
            </a:r>
            <a:endParaRPr lang="en-IN" altLang="en-US" sz="2400">
              <a:ln/>
              <a:solidFill>
                <a:schemeClr val="accent4"/>
              </a:solidFill>
              <a:effectLst/>
            </a:endParaRPr>
          </a:p>
          <a:p>
            <a:pPr>
              <a:buFont typeface="Wingdings" panose="05000000000000000000" charset="0"/>
              <a:buChar char="Ø"/>
            </a:pPr>
            <a:r>
              <a:rPr lang="en-IN" altLang="en-US" sz="2400">
                <a:ln/>
                <a:solidFill>
                  <a:schemeClr val="accent4"/>
                </a:solidFill>
                <a:effectLst/>
                <a:sym typeface="+mn-ea"/>
              </a:rPr>
              <a:t>It is a page where user login for vaccine with ABHA number and with their year of birth</a:t>
            </a:r>
            <a:endParaRPr lang="en-IN" altLang="en-US" sz="2400">
              <a:ln/>
              <a:solidFill>
                <a:schemeClr val="accent4"/>
              </a:solidFill>
              <a:effectLst/>
              <a:sym typeface="+mn-ea"/>
            </a:endParaRPr>
          </a:p>
          <a:p>
            <a:pPr>
              <a:buFont typeface="Wingdings" panose="05000000000000000000" charset="0"/>
              <a:buChar char="Ø"/>
            </a:pPr>
            <a:r>
              <a:rPr lang="en-IN" altLang="en-US" sz="2400">
                <a:ln/>
                <a:solidFill>
                  <a:schemeClr val="accent4"/>
                </a:solidFill>
                <a:effectLst/>
                <a:sym typeface="+mn-ea"/>
              </a:rPr>
              <a:t>It also verifies whether the user is robot or not and their is a option continue,if user click on the</a:t>
            </a:r>
            <a:endParaRPr lang="en-IN" altLang="en-US" sz="2400">
              <a:ln/>
              <a:solidFill>
                <a:schemeClr val="accent4"/>
              </a:solidFill>
              <a:effectLst/>
              <a:sym typeface="+mn-ea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en-IN" altLang="en-US" sz="2400">
                <a:ln/>
                <a:solidFill>
                  <a:schemeClr val="accent4"/>
                </a:solidFill>
                <a:effectLst/>
                <a:sym typeface="+mn-ea"/>
              </a:rPr>
              <a:t>    continue button it will navigate for further process. </a:t>
            </a:r>
            <a:endParaRPr lang="en-IN" altLang="en-US" sz="2400">
              <a:ln/>
              <a:solidFill>
                <a:schemeClr val="accent4"/>
              </a:solidFill>
              <a:effectLst/>
              <a:sym typeface="+mn-ea"/>
            </a:endParaRPr>
          </a:p>
          <a:p>
            <a:pPr>
              <a:buFont typeface="Wingdings" panose="05000000000000000000" charset="0"/>
              <a:buChar char="Ø"/>
            </a:pPr>
            <a:r>
              <a:rPr lang="en-IN" altLang="en-US" sz="2400">
                <a:ln/>
                <a:solidFill>
                  <a:schemeClr val="accent4"/>
                </a:solidFill>
                <a:effectLst/>
                <a:sym typeface="+mn-ea"/>
              </a:rPr>
              <a:t>The background colour code for this page is ”#D2B4DE”.</a:t>
            </a:r>
            <a:endParaRPr lang="en-IN" altLang="en-US" sz="2400">
              <a:ln/>
              <a:solidFill>
                <a:schemeClr val="accent4"/>
              </a:solidFill>
              <a:effectLst/>
              <a:sym typeface="+mn-ea"/>
            </a:endParaRPr>
          </a:p>
          <a:p>
            <a:pPr>
              <a:buFont typeface="Wingdings" panose="05000000000000000000" charset="0"/>
              <a:buChar char="Ø"/>
            </a:pPr>
            <a:r>
              <a:rPr lang="en-IN" altLang="en-US" sz="2400">
                <a:ln/>
                <a:solidFill>
                  <a:schemeClr val="accent4"/>
                </a:solidFill>
                <a:effectLst/>
                <a:sym typeface="+mn-ea"/>
              </a:rPr>
              <a:t>The text in ABHA(Health id) is left aligned and the front style used in this page is bold and calibri</a:t>
            </a:r>
            <a:endParaRPr lang="en-IN" altLang="en-US" sz="2400">
              <a:ln/>
              <a:solidFill>
                <a:schemeClr val="accent4"/>
              </a:solidFill>
              <a:effectLst/>
              <a:sym typeface="+mn-ea"/>
            </a:endParaRPr>
          </a:p>
          <a:p>
            <a:pPr>
              <a:buFont typeface="Wingdings" panose="05000000000000000000" charset="0"/>
              <a:buChar char="Ø"/>
            </a:pPr>
            <a:r>
              <a:rPr lang="en-IN" altLang="en-US" sz="2400">
                <a:ln/>
                <a:solidFill>
                  <a:schemeClr val="accent4"/>
                </a:solidFill>
                <a:effectLst/>
                <a:sym typeface="+mn-ea"/>
              </a:rPr>
              <a:t>we can also navigate  from this page to any of the other page in our website.</a:t>
            </a:r>
            <a:endParaRPr lang="en-IN" altLang="en-US" sz="2400">
              <a:ln/>
              <a:solidFill>
                <a:schemeClr val="accent4"/>
              </a:solidFill>
              <a:effectLst/>
              <a:sym typeface="+mn-ea"/>
            </a:endParaRPr>
          </a:p>
          <a:p>
            <a:pPr>
              <a:buFont typeface="Wingdings" panose="05000000000000000000" charset="0"/>
              <a:buChar char="Ø"/>
            </a:pPr>
            <a:endParaRPr lang="en-IN" altLang="en-US" sz="2400">
              <a:ln/>
              <a:solidFill>
                <a:schemeClr val="accent4"/>
              </a:solidFill>
              <a:effectLst/>
              <a:sym typeface="+mn-ea"/>
            </a:endParaRPr>
          </a:p>
          <a:p>
            <a:pPr>
              <a:buFont typeface="Wingdings" panose="05000000000000000000" charset="0"/>
              <a:buChar char="Ø"/>
            </a:pPr>
            <a:endParaRPr lang="en-IN" altLang="en-US" sz="2400">
              <a:ln/>
              <a:solidFill>
                <a:schemeClr val="accent4"/>
              </a:solidFill>
              <a:effectLst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7440" y="861060"/>
            <a:ext cx="10972800" cy="582613"/>
          </a:xfrm>
        </p:spPr>
        <p:txBody>
          <a:bodyPr/>
          <a:lstStyle/>
          <a:p>
            <a:r>
              <a:rPr lang="en-US" altLang="en-IN" sz="4400" u="sng" dirty="0"/>
              <a:t>ABHA(Health-ID:</a:t>
            </a:r>
            <a:endParaRPr lang="en-US" altLang="en-IN" sz="4400" u="sng" dirty="0"/>
          </a:p>
        </p:txBody>
      </p:sp>
      <p:pic>
        <p:nvPicPr>
          <p:cNvPr id="3" name="Content Placeholder 2"/>
          <p:cNvPicPr>
            <a:picLocks noChangeAspect="1"/>
          </p:cNvPicPr>
          <p:nvPr>
            <p:ph idx="1"/>
          </p:nvPr>
        </p:nvPicPr>
        <p:blipFill>
          <a:blip r:embed="rId1"/>
          <a:srcRect t="6929" r="3773" b="4972"/>
          <a:stretch>
            <a:fillRect/>
          </a:stretch>
        </p:blipFill>
        <p:spPr>
          <a:xfrm>
            <a:off x="1398905" y="1644015"/>
            <a:ext cx="9393555" cy="49098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82980"/>
            <a:ext cx="5456555" cy="582930"/>
          </a:xfrm>
        </p:spPr>
        <p:txBody>
          <a:bodyPr/>
          <a:p>
            <a:r>
              <a:rPr lang="en-US" altLang="en-IN" sz="4400" u="sng"/>
              <a:t>DASHBOARD:</a:t>
            </a:r>
            <a:endParaRPr lang="en-US" altLang="en-IN" sz="4400" u="sn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2140585"/>
            <a:ext cx="10473690" cy="4023360"/>
          </a:xfrm>
        </p:spPr>
        <p:txBody>
          <a:bodyPr/>
          <a:p>
            <a:pPr>
              <a:buFont typeface="Wingdings" panose="05000000000000000000" charset="0"/>
              <a:buChar char="Ø"/>
            </a:pPr>
            <a:r>
              <a:rPr lang="en-IN" altLang="en-US" sz="2800"/>
              <a:t>This page of our website is “Dashboard”.</a:t>
            </a:r>
            <a:endParaRPr lang="en-IN" altLang="en-US" sz="2800"/>
          </a:p>
          <a:p>
            <a:pPr>
              <a:buFont typeface="Wingdings" panose="05000000000000000000" charset="0"/>
              <a:buChar char="Ø"/>
            </a:pPr>
            <a:r>
              <a:rPr lang="en-IN" altLang="en-US" sz="2800"/>
              <a:t>This page contains total no.of registrations, vaccinations,fully vaccinated, partially vaccinated,</a:t>
            </a:r>
            <a:r>
              <a:rPr lang="en-IN" altLang="en-US" sz="2800">
                <a:sym typeface="+mn-ea"/>
              </a:rPr>
              <a:t> age group wise vaccinations, precaution doses and also contains the sites conducting  vaccinations.</a:t>
            </a:r>
            <a:endParaRPr lang="en-IN" altLang="en-US" sz="2800">
              <a:sym typeface="+mn-ea"/>
            </a:endParaRPr>
          </a:p>
          <a:p>
            <a:pPr>
              <a:buFont typeface="Wingdings" panose="05000000000000000000" charset="0"/>
              <a:buChar char="Ø"/>
            </a:pPr>
            <a:r>
              <a:rPr lang="en-IN" altLang="en-US" sz="2800"/>
              <a:t>The all above details are displayed with graphs.</a:t>
            </a:r>
            <a:endParaRPr lang="en-IN" altLang="en-US" sz="2800"/>
          </a:p>
          <a:p>
            <a:pPr>
              <a:buFont typeface="Wingdings" panose="05000000000000000000" charset="0"/>
              <a:buChar char="Ø"/>
            </a:pPr>
            <a:r>
              <a:rPr lang="en-IN" altLang="en-US" sz="2800"/>
              <a:t>we can navigate from this page to any of the page in our website.</a:t>
            </a:r>
            <a:endParaRPr lang="en-IN" altLang="en-US" sz="2800"/>
          </a:p>
          <a:p>
            <a:pPr marL="0" indent="0">
              <a:buFont typeface="Wingdings" panose="05000000000000000000" charset="0"/>
              <a:buNone/>
            </a:pPr>
            <a:r>
              <a:rPr lang="en-IN" altLang="en-US" sz="2800">
                <a:sym typeface="+mn-ea"/>
              </a:rPr>
              <a:t> </a:t>
            </a:r>
            <a:r>
              <a:rPr lang="en-IN" altLang="en-US" sz="2800"/>
              <a:t> </a:t>
            </a:r>
            <a:endParaRPr lang="en-IN" altLang="en-US" sz="28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901700"/>
            <a:ext cx="10972800" cy="582613"/>
          </a:xfrm>
        </p:spPr>
        <p:txBody>
          <a:bodyPr/>
          <a:lstStyle/>
          <a:p>
            <a:r>
              <a:rPr lang="en-US" altLang="en-IN" sz="4400" u="sng" dirty="0"/>
              <a:t>DASH BOARD:</a:t>
            </a:r>
            <a:endParaRPr lang="en-US" altLang="en-IN" sz="4400" u="sng" dirty="0"/>
          </a:p>
        </p:txBody>
      </p:sp>
      <p:pic>
        <p:nvPicPr>
          <p:cNvPr id="3" name="Content Placeholder 2"/>
          <p:cNvPicPr>
            <a:picLocks noChangeAspect="1"/>
          </p:cNvPicPr>
          <p:nvPr>
            <p:ph idx="1"/>
          </p:nvPr>
        </p:nvPicPr>
        <p:blipFill>
          <a:blip r:embed="rId1"/>
          <a:srcRect l="71" t="7639" r="2823" b="4972"/>
          <a:stretch>
            <a:fillRect/>
          </a:stretch>
        </p:blipFill>
        <p:spPr>
          <a:xfrm>
            <a:off x="1099820" y="1625600"/>
            <a:ext cx="9732010" cy="494474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86180"/>
            <a:ext cx="5161280" cy="582930"/>
          </a:xfrm>
        </p:spPr>
        <p:txBody>
          <a:bodyPr/>
          <a:p>
            <a:r>
              <a:rPr lang="en-US" altLang="en-IN" sz="4400" u="sng"/>
              <a:t>Verify certificate:</a:t>
            </a:r>
            <a:endParaRPr lang="en-US" altLang="en-IN" sz="4400" u="sn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272030"/>
            <a:ext cx="10972800" cy="3957955"/>
          </a:xfrm>
        </p:spPr>
        <p:txBody>
          <a:bodyPr/>
          <a:p>
            <a:pPr>
              <a:buFont typeface="Wingdings" panose="05000000000000000000" charset="0"/>
              <a:buChar char="Ø"/>
            </a:pPr>
            <a:r>
              <a:rPr lang="en-IN" altLang="en-US" sz="2600"/>
              <a:t>This page in our website is “verify certificate”.</a:t>
            </a:r>
            <a:endParaRPr lang="en-IN" altLang="en-US" sz="2600"/>
          </a:p>
          <a:p>
            <a:pPr>
              <a:buFont typeface="Wingdings" panose="05000000000000000000" charset="0"/>
              <a:buChar char="Ø"/>
            </a:pPr>
            <a:r>
              <a:rPr lang="en-IN" altLang="en-US" sz="2600"/>
              <a:t>This page is used to verify the certificate taken after vaccination by the users.</a:t>
            </a:r>
            <a:endParaRPr lang="en-IN" altLang="en-US" sz="2600"/>
          </a:p>
          <a:p>
            <a:pPr>
              <a:buFont typeface="Wingdings" panose="05000000000000000000" charset="0"/>
              <a:buChar char="Ø"/>
            </a:pPr>
            <a:r>
              <a:rPr lang="en-IN" altLang="en-US" sz="2600"/>
              <a:t>we can scan the certificate by allowing permissions to the camera or we can choose a file from our mobile or a desktop.</a:t>
            </a:r>
            <a:endParaRPr lang="en-IN" altLang="en-US" sz="2600"/>
          </a:p>
          <a:p>
            <a:pPr>
              <a:buFont typeface="Wingdings" panose="05000000000000000000" charset="0"/>
              <a:buChar char="Ø"/>
            </a:pPr>
            <a:r>
              <a:rPr lang="en-IN" altLang="en-US" sz="2600"/>
              <a:t>we can get the information of user by scanning the certificate .</a:t>
            </a:r>
            <a:endParaRPr lang="en-IN" altLang="en-US" sz="2600"/>
          </a:p>
          <a:p>
            <a:pPr>
              <a:buFont typeface="Wingdings" panose="05000000000000000000" charset="0"/>
              <a:buChar char="Ø"/>
            </a:pPr>
            <a:r>
              <a:rPr lang="en-IN" altLang="en-US" sz="2600"/>
              <a:t>The background image of this page is a certificate .</a:t>
            </a:r>
            <a:endParaRPr lang="en-IN" altLang="en-US" sz="2600"/>
          </a:p>
          <a:p>
            <a:pPr>
              <a:buFont typeface="Wingdings" panose="05000000000000000000" charset="0"/>
              <a:buChar char="Ø"/>
            </a:pPr>
            <a:r>
              <a:rPr lang="en-IN" altLang="en-US" sz="2600"/>
              <a:t>we can also navigate from this page to any of the page in our website.</a:t>
            </a:r>
            <a:endParaRPr lang="en-IN" altLang="en-US" sz="2600"/>
          </a:p>
          <a:p>
            <a:pPr>
              <a:buFont typeface="Wingdings" panose="05000000000000000000" charset="0"/>
              <a:buChar char="Ø"/>
            </a:pPr>
            <a:endParaRPr lang="en-IN" altLang="en-US" sz="2600"/>
          </a:p>
          <a:p>
            <a:pPr>
              <a:buFont typeface="Wingdings" panose="05000000000000000000" charset="0"/>
              <a:buChar char="Ø"/>
            </a:pPr>
            <a:endParaRPr lang="en-IN" altLang="en-US" sz="2600"/>
          </a:p>
          <a:p>
            <a:pPr>
              <a:buFont typeface="Wingdings" panose="05000000000000000000" charset="0"/>
              <a:buChar char="Ø"/>
            </a:pPr>
            <a:endParaRPr lang="en-IN" altLang="en-US" sz="26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003300"/>
            <a:ext cx="10972800" cy="582613"/>
          </a:xfrm>
        </p:spPr>
        <p:txBody>
          <a:bodyPr/>
          <a:lstStyle/>
          <a:p>
            <a:r>
              <a:rPr lang="en-US" altLang="en-IN" u="sng" dirty="0"/>
              <a:t>Certificate Verification:</a:t>
            </a:r>
            <a:endParaRPr lang="en-US" altLang="en-IN" u="sng" dirty="0"/>
          </a:p>
        </p:txBody>
      </p:sp>
      <p:pic>
        <p:nvPicPr>
          <p:cNvPr id="3" name="Content Placeholder 2"/>
          <p:cNvPicPr>
            <a:picLocks noChangeAspect="1"/>
          </p:cNvPicPr>
          <p:nvPr>
            <p:ph idx="1"/>
          </p:nvPr>
        </p:nvPicPr>
        <p:blipFill>
          <a:blip r:embed="rId1"/>
          <a:srcRect t="8996" r="2690" b="5287"/>
          <a:stretch>
            <a:fillRect/>
          </a:stretch>
        </p:blipFill>
        <p:spPr>
          <a:xfrm>
            <a:off x="1228090" y="1740535"/>
            <a:ext cx="9735820" cy="46691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57860"/>
            <a:ext cx="1778000" cy="582930"/>
          </a:xfrm>
        </p:spPr>
        <p:txBody>
          <a:bodyPr/>
          <a:p>
            <a:r>
              <a:rPr lang="en-US" altLang="en-IN" sz="4400" u="sng"/>
              <a:t>FAQ</a:t>
            </a:r>
            <a:r>
              <a:rPr lang="en-IN" altLang="en-US" sz="4400" u="sng"/>
              <a:t>:</a:t>
            </a:r>
            <a:endParaRPr lang="en-IN" altLang="en-US" sz="4400" u="sn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IN" altLang="en-US" sz="2400"/>
              <a:t>This page in our website is “FAQ’s”.</a:t>
            </a:r>
            <a:endParaRPr lang="en-IN" altLang="en-US" sz="2400"/>
          </a:p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IN" altLang="en-US" sz="2400"/>
              <a:t>This contains  about </a:t>
            </a:r>
            <a:r>
              <a:rPr lang="en-US" altLang="en-IN" sz="2400"/>
              <a:t>F</a:t>
            </a:r>
            <a:r>
              <a:rPr lang="en-IN" altLang="en-US" sz="2400"/>
              <a:t>requently </a:t>
            </a:r>
            <a:r>
              <a:rPr lang="en-US" altLang="en-IN" sz="2400"/>
              <a:t>A</a:t>
            </a:r>
            <a:r>
              <a:rPr lang="en-IN" altLang="en-US" sz="2400"/>
              <a:t>sked </a:t>
            </a:r>
            <a:r>
              <a:rPr lang="en-US" altLang="en-IN" sz="2400"/>
              <a:t>Q</a:t>
            </a:r>
            <a:r>
              <a:rPr lang="en-IN" altLang="en-US" sz="2400"/>
              <a:t>uestions.</a:t>
            </a:r>
            <a:endParaRPr lang="en-IN" altLang="en-US" sz="2400"/>
          </a:p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IN" altLang="en-US" sz="2400"/>
              <a:t>when the user is ambigious about the website ,he/she can clear</a:t>
            </a:r>
            <a:r>
              <a:rPr lang="en-US" altLang="en-IN" sz="2400"/>
              <a:t>ly</a:t>
            </a:r>
            <a:r>
              <a:rPr lang="en-IN" altLang="en-US" sz="2400"/>
              <a:t> clarif</a:t>
            </a:r>
            <a:r>
              <a:rPr lang="en-US" altLang="en-IN" sz="2400"/>
              <a:t>ies the quetions </a:t>
            </a:r>
            <a:r>
              <a:rPr lang="en-IN" altLang="en-US" sz="2400"/>
              <a:t>from the FAQ’s</a:t>
            </a:r>
            <a:r>
              <a:rPr lang="en-US" altLang="en-IN" sz="2400"/>
              <a:t> Webpage</a:t>
            </a:r>
            <a:r>
              <a:rPr lang="en-IN" altLang="en-US" sz="2400"/>
              <a:t>.</a:t>
            </a:r>
            <a:endParaRPr lang="en-IN" altLang="en-US" sz="2400"/>
          </a:p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IN" sz="2400"/>
              <a:t>Like:</a:t>
            </a:r>
            <a:endParaRPr lang="en-US" altLang="en-IN" sz="240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IN" sz="2400">
                <a:sym typeface="+mn-ea"/>
              </a:rPr>
              <a:t>How many members can register using a single mobile Number?</a:t>
            </a:r>
            <a:endParaRPr lang="en-US" altLang="en-IN" sz="2400">
              <a:sym typeface="+mn-ea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IN" sz="2400">
                <a:sym typeface="+mn-ea"/>
              </a:rPr>
              <a:t>what is the Minimum age to register a vaccination? </a:t>
            </a:r>
            <a:endParaRPr lang="en-IN" altLang="en-US" sz="2400"/>
          </a:p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IN" altLang="en-US" sz="2400"/>
              <a:t>we can also navigate from this page to any other page of our website.</a:t>
            </a:r>
            <a:endParaRPr lang="en-IN" altLang="en-US" sz="2400"/>
          </a:p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endParaRPr lang="en-IN" altLang="en-US" sz="2400"/>
          </a:p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endParaRPr lang="en-IN" altLang="en-US" sz="24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920" y="586740"/>
            <a:ext cx="2418080" cy="582930"/>
          </a:xfrm>
        </p:spPr>
        <p:txBody>
          <a:bodyPr/>
          <a:lstStyle/>
          <a:p>
            <a:r>
              <a:rPr lang="en-US" altLang="en-IN" sz="4400" u="sng" dirty="0"/>
              <a:t>FAQ’s:</a:t>
            </a:r>
            <a:endParaRPr lang="en-US" altLang="en-IN" sz="4400" u="sng" dirty="0"/>
          </a:p>
        </p:txBody>
      </p:sp>
      <p:pic>
        <p:nvPicPr>
          <p:cNvPr id="3" name="Content Placeholder 2"/>
          <p:cNvPicPr>
            <a:picLocks noChangeAspect="1"/>
          </p:cNvPicPr>
          <p:nvPr>
            <p:ph idx="1"/>
          </p:nvPr>
        </p:nvPicPr>
        <p:blipFill>
          <a:blip r:embed="rId1"/>
          <a:srcRect l="204" t="8033" r="3090" b="4814"/>
          <a:stretch>
            <a:fillRect/>
          </a:stretch>
        </p:blipFill>
        <p:spPr>
          <a:xfrm>
            <a:off x="992505" y="1412240"/>
            <a:ext cx="9930130" cy="52133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4400" u="sng"/>
              <a:t>PARTNERS:</a:t>
            </a:r>
            <a:endParaRPr lang="en-US" sz="4400" u="sn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IN" altLang="en-US">
                <a:ln/>
                <a:solidFill>
                  <a:schemeClr val="tx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sym typeface="+mn-ea"/>
              </a:rPr>
              <a:t>This page of our website is “</a:t>
            </a:r>
            <a:r>
              <a:rPr lang="en-US" altLang="en-IN">
                <a:ln/>
                <a:solidFill>
                  <a:schemeClr val="tx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sym typeface="+mn-ea"/>
              </a:rPr>
              <a:t>partners</a:t>
            </a:r>
            <a:r>
              <a:rPr lang="en-IN" altLang="en-US">
                <a:ln/>
                <a:solidFill>
                  <a:schemeClr val="tx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sym typeface="+mn-ea"/>
              </a:rPr>
              <a:t>”.</a:t>
            </a:r>
            <a:endParaRPr lang="en-IN" altLang="en-US">
              <a:sym typeface="+mn-ea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IN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our partners are:Digilocker,Aarogya setu,my gov,Jio,Step One,TRIGYN,Health,Whats                                    app,Apollo,National health mession,Pulse.</a:t>
            </a:r>
            <a:endParaRPr lang="en-US" altLang="en-IN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IN" altLang="en-US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we can also navigate from this page to any other page of our website.</a:t>
            </a:r>
            <a:r>
              <a:rPr lang="en-US" altLang="en-IN">
                <a:sym typeface="+mn-ea"/>
              </a:rPr>
              <a:t>                                </a:t>
            </a:r>
            <a:endParaRPr lang="en-US" altLang="en-IN">
              <a:sym typeface="+mn-ea"/>
            </a:endParaRPr>
          </a:p>
          <a:p>
            <a:pPr algn="l">
              <a:lnSpc>
                <a:spcPct val="150000"/>
              </a:lnSpc>
            </a:pPr>
            <a:endParaRPr lang="en-IN" altLang="en-US"/>
          </a:p>
          <a:p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3235" y="871220"/>
            <a:ext cx="10972800" cy="582613"/>
          </a:xfrm>
        </p:spPr>
        <p:txBody>
          <a:bodyPr/>
          <a:lstStyle/>
          <a:p>
            <a:r>
              <a:rPr lang="en-US" altLang="en-IN" sz="4400" u="sng" dirty="0"/>
              <a:t>PARTNERS:</a:t>
            </a:r>
            <a:endParaRPr lang="en-US" altLang="en-IN" sz="4400" u="sng" dirty="0"/>
          </a:p>
        </p:txBody>
      </p:sp>
      <p:pic>
        <p:nvPicPr>
          <p:cNvPr id="3" name="Content Placeholder 2"/>
          <p:cNvPicPr>
            <a:picLocks noChangeAspect="1"/>
          </p:cNvPicPr>
          <p:nvPr>
            <p:ph idx="1"/>
          </p:nvPr>
        </p:nvPicPr>
        <p:blipFill>
          <a:blip r:embed="rId1"/>
          <a:srcRect l="206" t="8476" r="3950" b="5317"/>
          <a:stretch>
            <a:fillRect/>
          </a:stretch>
        </p:blipFill>
        <p:spPr>
          <a:xfrm>
            <a:off x="1000760" y="1801495"/>
            <a:ext cx="9095105" cy="42513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4400" u="sng"/>
              <a:t>REGISTER/SIGN-IN:</a:t>
            </a:r>
            <a:endParaRPr lang="en-US" sz="4400" u="sn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Wingdings" panose="05000000000000000000" charset="0"/>
              <a:buChar char="Ø"/>
            </a:pPr>
            <a:r>
              <a:rPr lang="en-IN" altLang="en-US" sz="2800">
                <a:sym typeface="+mn-ea"/>
              </a:rPr>
              <a:t>This page of our website is “</a:t>
            </a:r>
            <a:r>
              <a:rPr lang="en-US" altLang="en-IN" sz="2800">
                <a:sym typeface="+mn-ea"/>
              </a:rPr>
              <a:t>Register/Sign in</a:t>
            </a:r>
            <a:r>
              <a:rPr lang="en-IN" altLang="en-US" sz="2800">
                <a:sym typeface="+mn-ea"/>
              </a:rPr>
              <a:t>”.</a:t>
            </a:r>
            <a:endParaRPr lang="en-IN" altLang="en-US" sz="2800">
              <a:sym typeface="+mn-ea"/>
            </a:endParaRPr>
          </a:p>
          <a:p>
            <a:pPr>
              <a:buFont typeface="Wingdings" panose="05000000000000000000" charset="0"/>
              <a:buChar char="Ø"/>
            </a:pPr>
            <a:r>
              <a:rPr lang="en-IN" altLang="en-US" sz="2800">
                <a:sym typeface="+mn-ea"/>
              </a:rPr>
              <a:t>This page is used to</a:t>
            </a:r>
            <a:r>
              <a:rPr lang="en-US" altLang="en-IN" sz="2800">
                <a:sym typeface="+mn-ea"/>
              </a:rPr>
              <a:t> user can fill the form by register/sign in the site</a:t>
            </a:r>
            <a:r>
              <a:rPr lang="en-IN" altLang="en-US" sz="2800">
                <a:sym typeface="+mn-ea"/>
              </a:rPr>
              <a:t> .</a:t>
            </a:r>
            <a:endParaRPr lang="en-IN" altLang="en-US" sz="2800">
              <a:sym typeface="+mn-ea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IN" sz="2800">
                <a:sym typeface="+mn-ea"/>
              </a:rPr>
              <a:t>we can register/sign in with our name,mobile number and Adhar number.</a:t>
            </a:r>
            <a:endParaRPr lang="en-US" altLang="en-IN" sz="2800">
              <a:sym typeface="+mn-ea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IN" sz="2800">
                <a:sym typeface="+mn-ea"/>
              </a:rPr>
              <a:t>click on the sign up button to register your details in the site.</a:t>
            </a:r>
            <a:endParaRPr lang="en-US" altLang="en-IN" sz="2800">
              <a:sym typeface="+mn-ea"/>
            </a:endParaRPr>
          </a:p>
          <a:p>
            <a:pPr>
              <a:buFont typeface="Wingdings" panose="05000000000000000000" charset="0"/>
              <a:buChar char="Ø"/>
            </a:pPr>
            <a:r>
              <a:rPr lang="en-IN" altLang="en-US" sz="2800">
                <a:sym typeface="+mn-ea"/>
              </a:rPr>
              <a:t>we can also navigate from this page to any other page of our website.</a:t>
            </a:r>
            <a:endParaRPr lang="en-IN" altLang="en-US" sz="2800"/>
          </a:p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endParaRPr lang="en-IN" altLang="en-US" sz="2800"/>
          </a:p>
          <a:p>
            <a:pPr marL="0" indent="0">
              <a:buFont typeface="Wingdings" panose="05000000000000000000" charset="0"/>
              <a:buNone/>
            </a:pPr>
            <a:r>
              <a:rPr lang="en-US" altLang="en-IN" sz="2800">
                <a:sym typeface="+mn-ea"/>
              </a:rPr>
              <a:t> </a:t>
            </a:r>
            <a:endParaRPr lang="en-IN" altLang="en-US" sz="2800">
              <a:sym typeface="+mn-ea"/>
            </a:endParaRPr>
          </a:p>
          <a:p>
            <a:pPr>
              <a:buFont typeface="Wingdings" panose="05000000000000000000" charset="0"/>
              <a:buChar char="Ø"/>
            </a:pPr>
            <a:endParaRPr lang="en-IN" altLang="en-US" sz="2800">
              <a:sym typeface="+mn-ea"/>
            </a:endParaRPr>
          </a:p>
          <a:p>
            <a:pPr>
              <a:buFont typeface="Wingdings" panose="05000000000000000000" charset="0"/>
              <a:buChar char="Ø"/>
            </a:pPr>
            <a:endParaRPr lang="en-US" sz="28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37540"/>
            <a:ext cx="10972800" cy="582613"/>
          </a:xfrm>
        </p:spPr>
        <p:txBody>
          <a:bodyPr/>
          <a:lstStyle/>
          <a:p>
            <a:r>
              <a:rPr lang="en-US" altLang="en-IN" sz="4400" u="sng" dirty="0"/>
              <a:t>REGISTER/SING-IN:</a:t>
            </a:r>
            <a:endParaRPr lang="en-US" altLang="en-IN" sz="4400" u="sng" dirty="0"/>
          </a:p>
        </p:txBody>
      </p:sp>
      <p:pic>
        <p:nvPicPr>
          <p:cNvPr id="3" name="Content Placeholder 2"/>
          <p:cNvPicPr>
            <a:picLocks noChangeAspect="1"/>
          </p:cNvPicPr>
          <p:nvPr>
            <p:ph idx="1"/>
          </p:nvPr>
        </p:nvPicPr>
        <p:blipFill>
          <a:blip r:embed="rId1"/>
          <a:srcRect l="-71" t="7797" r="2823" b="18056"/>
          <a:stretch>
            <a:fillRect/>
          </a:stretch>
        </p:blipFill>
        <p:spPr>
          <a:xfrm>
            <a:off x="1524000" y="1576705"/>
            <a:ext cx="9144000" cy="48031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8480" y="688340"/>
            <a:ext cx="10972800" cy="582613"/>
          </a:xfrm>
        </p:spPr>
        <p:txBody>
          <a:bodyPr/>
          <a:lstStyle/>
          <a:p>
            <a:r>
              <a:rPr lang="en-IN" sz="4400" u="sng" dirty="0"/>
              <a:t>ARCHITECTURAL DESIGN</a:t>
            </a:r>
            <a:r>
              <a:rPr lang="en-US" altLang="en-IN" sz="4400" u="sng" dirty="0"/>
              <a:t>:</a:t>
            </a:r>
            <a:endParaRPr lang="en-US" altLang="en-IN" sz="4400" u="sng" dirty="0"/>
          </a:p>
        </p:txBody>
      </p:sp>
      <p:pic>
        <p:nvPicPr>
          <p:cNvPr id="3" name="Content Placeholder 2"/>
          <p:cNvPicPr>
            <a:picLocks noChangeAspect="1"/>
          </p:cNvPicPr>
          <p:nvPr>
            <p:ph idx="1"/>
          </p:nvPr>
        </p:nvPicPr>
        <p:blipFill>
          <a:blip r:embed="rId1"/>
          <a:srcRect l="14023" t="363" r="13300" b="2944"/>
          <a:stretch>
            <a:fillRect/>
          </a:stretch>
        </p:blipFill>
        <p:spPr>
          <a:xfrm>
            <a:off x="717550" y="1969770"/>
            <a:ext cx="10388600" cy="47421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4400" u="sng"/>
              <a:t>CONCLUSION &amp; FUTURE SCOPE:</a:t>
            </a:r>
            <a:endParaRPr lang="en-US" sz="4400" u="sn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Wingdings" panose="05000000000000000000" charset="0"/>
              <a:buChar char="v"/>
            </a:pPr>
            <a:r>
              <a:rPr lang="en-US"/>
              <a:t>We Conclude that this website is useful for conducting Hustle free vaccinations by pre registering the vaccination slot through this website</a:t>
            </a:r>
            <a:endParaRPr lang="en-US"/>
          </a:p>
          <a:p>
            <a:pPr>
              <a:buFont typeface="Wingdings" panose="05000000000000000000" charset="0"/>
              <a:buChar char="v"/>
            </a:pPr>
            <a:r>
              <a:rPr lang="en-US"/>
              <a:t>This shows the rate of vaccinations registered as per different age groups like teen,youth,young etc. </a:t>
            </a:r>
            <a:endParaRPr lang="en-US"/>
          </a:p>
          <a:p>
            <a:pPr>
              <a:buFont typeface="Wingdings" panose="05000000000000000000" charset="0"/>
              <a:buChar char="v"/>
            </a:pPr>
            <a:r>
              <a:rPr lang="en-US"/>
              <a:t> This helps us to overcome the spread of deadly diseases like covid-19 </a:t>
            </a:r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36800" y="2121408"/>
            <a:ext cx="7355840" cy="1143000"/>
          </a:xfrm>
        </p:spPr>
        <p:txBody>
          <a:bodyPr>
            <a:normAutofit fontScale="90000"/>
          </a:bodyPr>
          <a:lstStyle/>
          <a:p>
            <a:r>
              <a:rPr lang="en-IN" dirty="0"/>
              <a:t>***THANK YOU***</a:t>
            </a:r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een Color">
  <a:themeElements>
    <a:clrScheme name="Green Color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9900"/>
      </a:accent1>
      <a:accent2>
        <a:srgbClr val="99CC00"/>
      </a:accent2>
      <a:accent3>
        <a:srgbClr val="FFFFFF"/>
      </a:accent3>
      <a:accent4>
        <a:srgbClr val="000000"/>
      </a:accent4>
      <a:accent5>
        <a:srgbClr val="AACAAA"/>
      </a:accent5>
      <a:accent6>
        <a:srgbClr val="8AB900"/>
      </a:accent6>
      <a:hlink>
        <a:srgbClr val="CC3300"/>
      </a:hlink>
      <a:folHlink>
        <a:srgbClr val="996600"/>
      </a:folHlink>
    </a:clrScheme>
    <a:fontScheme name="Green Color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Green Color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9900"/>
        </a:accent1>
        <a:accent2>
          <a:srgbClr val="99CC00"/>
        </a:accent2>
        <a:accent3>
          <a:srgbClr val="FFFFFF"/>
        </a:accent3>
        <a:accent4>
          <a:srgbClr val="000000"/>
        </a:accent4>
        <a:accent5>
          <a:srgbClr val="AACAAA"/>
        </a:accent5>
        <a:accent6>
          <a:srgbClr val="8AB900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3927</Words>
  <Application>WPS Presentation</Application>
  <PresentationFormat>Widescreen</PresentationFormat>
  <Paragraphs>120</Paragraphs>
  <Slides>32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3" baseType="lpstr">
      <vt:lpstr>Arial</vt:lpstr>
      <vt:lpstr>SimSun</vt:lpstr>
      <vt:lpstr>Wingdings</vt:lpstr>
      <vt:lpstr>Calibri</vt:lpstr>
      <vt:lpstr>Wingdings</vt:lpstr>
      <vt:lpstr>Calibri Light</vt:lpstr>
      <vt:lpstr>Microsoft YaHei</vt:lpstr>
      <vt:lpstr>Arial Unicode MS</vt:lpstr>
      <vt:lpstr>Algerian</vt:lpstr>
      <vt:lpstr>Brush Script MT</vt:lpstr>
      <vt:lpstr>Green Color</vt:lpstr>
      <vt:lpstr>SR UNIVERSITY</vt:lpstr>
      <vt:lpstr>       Title:COWIN</vt:lpstr>
      <vt:lpstr>PowerPoint 演示文稿</vt:lpstr>
      <vt:lpstr>PowerPoint 演示文稿</vt:lpstr>
      <vt:lpstr>                       </vt:lpstr>
      <vt:lpstr>                    ABHA(health id):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LOGIN PAGE</vt:lpstr>
      <vt:lpstr>page 2:</vt:lpstr>
      <vt:lpstr>DASH BOARD</vt:lpstr>
      <vt:lpstr>page 3:</vt:lpstr>
      <vt:lpstr>CERTIFICATE VERIFICATION</vt:lpstr>
      <vt:lpstr>page 4:</vt:lpstr>
      <vt:lpstr>FAQ’s</vt:lpstr>
      <vt:lpstr>page:5</vt:lpstr>
      <vt:lpstr>PARTNERS</vt:lpstr>
      <vt:lpstr>page:6</vt:lpstr>
      <vt:lpstr>REGISTER/SING-IN</vt:lpstr>
      <vt:lpstr>ARCHITECTURAL DESIGN</vt:lpstr>
      <vt:lpstr>PowerPoint 演示文稿</vt:lpstr>
      <vt:lpstr>***THANK YOU***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SR UNIVERSITY</dc:title>
  <dc:creator>Akhil Rampelli</dc:creator>
  <cp:lastModifiedBy>mudur</cp:lastModifiedBy>
  <cp:revision>35</cp:revision>
  <dcterms:created xsi:type="dcterms:W3CDTF">2022-11-16T05:55:00Z</dcterms:created>
  <dcterms:modified xsi:type="dcterms:W3CDTF">2022-11-23T06:15:52Z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5F9EF051AA324AF796C53010AE5DB8B7</vt:lpwstr>
  </property>
  <property fmtid="{D5CDD505-2E9C-101B-9397-08002B2CF9AE}" pid="3" name="KSOProductBuildVer">
    <vt:lpwstr>1033-11.2.0.11380</vt:lpwstr>
  </property>
</Properties>
</file>